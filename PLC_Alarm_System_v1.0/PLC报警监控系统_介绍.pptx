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本周</c:v>
                </c:pt>
              </c:strCache>
            </c:strRef>
          </c:tx>
          <c:spPr>
            <a:solidFill>
              <a:srgbClr val="C412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A001</c:v>
                  </c:pt>
                  <c:pt idx="1">
                    <c:v>A002</c:v>
                  </c:pt>
                  <c:pt idx="2">
                    <c:v>A003</c:v>
                  </c:pt>
                  <c:pt idx="3">
                    <c:v>A004</c:v>
                  </c:pt>
                  <c:pt idx="4">
                    <c:v>A005</c:v>
                  </c:pt>
                  <c:pt idx="5">
                    <c:v>A008</c:v>
                  </c:pt>
                  <c:pt idx="6">
                    <c:v>A009</c:v>
                  </c:pt>
                  <c:pt idx="7">
                    <c:v>A010</c:v>
                  </c:pt>
                  <c:pt idx="8">
                    <c:v>A011</c:v>
                  </c:pt>
                  <c:pt idx="9">
                    <c:v>A012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</c:v>
                </c:pt>
                <c:pt idx="1">
                  <c:v>36</c:v>
                </c:pt>
                <c:pt idx="2">
                  <c:v>29</c:v>
                </c:pt>
                <c:pt idx="3">
                  <c:v>22</c:v>
                </c:pt>
                <c:pt idx="4">
                  <c:v>18</c:v>
                </c:pt>
                <c:pt idx="5">
                  <c:v>14</c:v>
                </c:pt>
                <c:pt idx="6">
                  <c:v>11</c:v>
                </c:pt>
                <c:pt idx="7">
                  <c:v>8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上周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A001</c:v>
                  </c:pt>
                  <c:pt idx="1">
                    <c:v>A002</c:v>
                  </c:pt>
                  <c:pt idx="2">
                    <c:v>A003</c:v>
                  </c:pt>
                  <c:pt idx="3">
                    <c:v>A004</c:v>
                  </c:pt>
                  <c:pt idx="4">
                    <c:v>A005</c:v>
                  </c:pt>
                  <c:pt idx="5">
                    <c:v>A008</c:v>
                  </c:pt>
                  <c:pt idx="6">
                    <c:v>A009</c:v>
                  </c:pt>
                  <c:pt idx="7">
                    <c:v>A010</c:v>
                  </c:pt>
                  <c:pt idx="8">
                    <c:v>A011</c:v>
                  </c:pt>
                  <c:pt idx="9">
                    <c:v>A012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42</c:v>
                </c:pt>
                <c:pt idx="1">
                  <c:v>31</c:v>
                </c:pt>
                <c:pt idx="2">
                  <c:v>25</c:v>
                </c:pt>
                <c:pt idx="3">
                  <c:v>19</c:v>
                </c:pt>
                <c:pt idx="4">
                  <c:v>20</c:v>
                </c:pt>
                <c:pt idx="5">
                  <c:v>10</c:v>
                </c:pt>
                <c:pt idx="6">
                  <c:v>9</c:v>
                </c:pt>
                <c:pt idx="7">
                  <c:v>12</c:v>
                </c:pt>
                <c:pt idx="8">
                  <c:v>7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PLC 报警监控系统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 • 智能告警 • 数据分析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PLC 数据块实时采集  |  故障字典灵活配置  |  TOP 10 统计对比  |  Excel 一键导出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系统概述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报警监控系统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本系统通过 Siemens Snap7 协议实时采集 PLC 数据块中的报警位信息，结合可配置的故障字典（Excel / TIA Portal DB 文件），实现工业设备故障的实时监控、历史统计与数据导出。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焊接产线   冲压设备   装配流水线   包装机械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0" y="164592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645920"/>
            <a:ext cx="73152" cy="8686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7190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PLC 线体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支持同时监控多条产线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69748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697480"/>
            <a:ext cx="73152" cy="8686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770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770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毫秒级采集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Snap7 实时读取 DB 数据块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74904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3749040"/>
            <a:ext cx="73152" cy="8686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8221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38221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自动告警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Byte/Bit 精确匹配故障字典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实时报警看板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秒轮询刷新，显示所有活跃报警的代码、描述、所属线体、触发时间及持续时长。支持按线体筛选。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6459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6459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0" y="18745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6908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 PLC 支持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可配置多个 PLC 线体，独立设置 IP / Rack / Slot / DB 号。每台 PLC 使用独立的故障字典。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6459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6459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18745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故障字典管理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Excel (.xlsx) 和 TIA Portal DB 导出文件 (.db) 作为故障字典。支持在线刷新及文件上传。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2461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2461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4747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统计分析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 vs 上周报警次数 / 停机时长对比，TOP 10 柱状图 + 详细数据表。趋势一目了然。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32461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2461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5" name="Shape 33"/>
          <p:cNvSpPr/>
          <p:nvPr/>
        </p:nvSpPr>
        <p:spPr>
          <a:xfrm>
            <a:off x="3474720" y="34747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06908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导出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472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一键导出统计分析报告为 Excel 文件，文件名自动包含线体名称与周数（如 地板线_W24_TOP10故障列表.xlsx）。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24612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246120"/>
            <a:ext cx="269748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1" name="Shape 39"/>
          <p:cNvSpPr/>
          <p:nvPr/>
        </p:nvSpPr>
        <p:spPr>
          <a:xfrm>
            <a:off x="6355080" y="3474720"/>
            <a:ext cx="457200" cy="45720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9440" y="3429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连接状态监控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508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实时显示各线体 PLC 的连接状态（在线 / 降级 / 离线 / 已停用），错误信息一目了然。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实时报警监控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Alarm Monitoring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数据采集流程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274320" cy="27432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PLC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S7-1200 / 1500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624328"/>
            <a:ext cx="274320" cy="27432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Snap7 协议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5786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数据块读取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099816"/>
            <a:ext cx="274320" cy="27432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Byte/Bit 解析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0540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按位提取报警状态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575304"/>
            <a:ext cx="274320" cy="27432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529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故障字典匹配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/ DB 查找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050792"/>
            <a:ext cx="274320" cy="27432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005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数据库记录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4005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告警起止时间计算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5262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526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前端监控看板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4480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实时展示 + 声音提醒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监控看板预览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03520" y="2103120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03520" y="2103120"/>
            <a:ext cx="54864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0" y="2249424"/>
            <a:ext cx="182880" cy="18288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0" y="2148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电机过载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80960" y="2148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地板线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80960" y="2148840"/>
            <a:ext cx="731520" cy="1828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21488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地板线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0" y="23591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1h23m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2359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16:15:48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03520" y="2697480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03520" y="2697480"/>
            <a:ext cx="54864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0" y="2843784"/>
            <a:ext cx="182880" cy="18288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27432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2743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编码器故障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680960" y="2743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地板线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80960" y="2743200"/>
            <a:ext cx="731520" cy="1828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2743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地板线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0" y="29535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80960" y="29535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16:15:48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03520" y="3291840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03520" y="3291840"/>
            <a:ext cx="54864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57" name="Shape 55"/>
          <p:cNvSpPr/>
          <p:nvPr/>
        </p:nvSpPr>
        <p:spPr>
          <a:xfrm>
            <a:off x="5486400" y="3438144"/>
            <a:ext cx="182880" cy="18288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58" name="Text 56"/>
          <p:cNvSpPr/>
          <p:nvPr/>
        </p:nvSpPr>
        <p:spPr>
          <a:xfrm>
            <a:off x="5760720" y="3337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33375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驱动过热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80960" y="3337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焊机线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680960" y="3337560"/>
            <a:ext cx="731520" cy="1828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2" name="Text 60"/>
          <p:cNvSpPr/>
          <p:nvPr/>
        </p:nvSpPr>
        <p:spPr>
          <a:xfrm>
            <a:off x="7680960" y="3337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焊机线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400800" y="35478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680960" y="35478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16:15:48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303520" y="3886200"/>
            <a:ext cx="34747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303520" y="3886200"/>
            <a:ext cx="54864" cy="47548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7" name="Shape 65"/>
          <p:cNvSpPr/>
          <p:nvPr/>
        </p:nvSpPr>
        <p:spPr>
          <a:xfrm>
            <a:off x="5486400" y="4032504"/>
            <a:ext cx="182880" cy="182880"/>
          </a:xfrm>
          <a:prstGeom prst="ellipse">
            <a:avLst/>
          </a:prstGeom>
          <a:solidFill>
            <a:srgbClr val="C41230"/>
          </a:solidFill>
          <a:ln/>
        </p:spPr>
      </p:sp>
      <p:sp>
        <p:nvSpPr>
          <p:cNvPr id="68" name="Text 66"/>
          <p:cNvSpPr/>
          <p:nvPr/>
        </p:nvSpPr>
        <p:spPr>
          <a:xfrm>
            <a:off x="576072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A005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0" y="39319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气压过低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68096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焊机线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80960" y="3931920"/>
            <a:ext cx="731520" cy="1828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2" name="Text 70"/>
          <p:cNvSpPr/>
          <p:nvPr/>
        </p:nvSpPr>
        <p:spPr>
          <a:xfrm>
            <a:off x="768096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焊机线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00800" y="41422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680960" y="41422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16:15:48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故障字典管理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Dictionary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字典格式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548640"/>
                <a:gridCol w="100584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报警代码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报警消息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23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电机过载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编码器故障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驱动过热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气压过低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焊机故障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急停按下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管理功能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03520" y="2103120"/>
            <a:ext cx="347472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103120"/>
            <a:ext cx="54864" cy="5120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1488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在线刷新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2359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修改字典后一键刷新，采集器自动同步新映射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0" y="2743200"/>
            <a:ext cx="347472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743200"/>
            <a:ext cx="54864" cy="5120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2788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文件上传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77840" y="29992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支持从本地上传 .xlsx / .db 文件到服务器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03520" y="3383280"/>
            <a:ext cx="347472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383280"/>
            <a:ext cx="54864" cy="5120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3429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 DB 解析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77840" y="3639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 Siemens TIA Portal 导出的 DB 源文件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03520" y="4023360"/>
            <a:ext cx="347472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0" y="4023360"/>
            <a:ext cx="54864" cy="5120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6" name="Text 23"/>
          <p:cNvSpPr/>
          <p:nvPr/>
        </p:nvSpPr>
        <p:spPr>
          <a:xfrm>
            <a:off x="5577840" y="40690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热更新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4279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刷新字典无需重启采集器，映射即时生效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统计与分析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&amp;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周报 TOP 10 对比分析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2103120"/>
          <a:ext cx="5303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217920" y="2103120"/>
            <a:ext cx="2560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103120"/>
            <a:ext cx="45720" cy="5303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1396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次数对比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46520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 vs 上周各报警触发次数，红色=本周，灰色=上周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0" y="2761488"/>
            <a:ext cx="2560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2761488"/>
            <a:ext cx="45720" cy="5303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2798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时长统计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4652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累计停机时长对比，精确到秒，支持时/分/秒展示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3419856"/>
            <a:ext cx="2560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419856"/>
            <a:ext cx="45720" cy="5303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3456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排序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46520" y="3657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按本周或上周数据排序，自动渲染柱状图 + 数据表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17920" y="4078224"/>
            <a:ext cx="25603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4078224"/>
            <a:ext cx="45720" cy="5303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一键导出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4652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线体名_W周数_TOP10故障列表.xlsx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|  SANY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0" y="47731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37360"/>
            <a:ext cx="73152" cy="65836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前端展示层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ECharts + Bootstrap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179222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实时看板 / 统计分析 / 配置管理 / Excel 导出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560320"/>
            <a:ext cx="73152" cy="65836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后端服务层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 + JWT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6151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 采集管理 / 字典解析 / 审计日志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83280"/>
            <a:ext cx="73152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数据采集层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Snap7 + 多线程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34381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DB 读取 / Bit 解析 / 虚拟 PLC 模拟 / 数据生成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06240"/>
            <a:ext cx="73152" cy="65836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设备层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553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S7-1200 / 1500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34640" y="426110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Block 报警位输出 / TCP 通信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3200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463040" cy="36576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多线体支持 — 一台服务器同时监控多条 PLC 产线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灵活配置 — 故障字典可随时修改，即时生效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712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871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精准告警 — Byte / Bit 精确定位，不遗漏、不误报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346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 — 周报 TOP 10 对比，趋势一目了然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简单易用 — Web 界面操作，浏览器即开即用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 — 根据产线需求灵活扩展功能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 Alarm Monitoring System 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PLC 报警监控系统</dc:title>
  <dc:subject>PptxGenJS Presentation</dc:subject>
  <dc:creator>PLC Alarm System</dc:creator>
  <cp:lastModifiedBy>PLC Alarm System</cp:lastModifiedBy>
  <cp:revision>1</cp:revision>
  <dcterms:created xsi:type="dcterms:W3CDTF">2026-05-21T08:15:48Z</dcterms:created>
  <dcterms:modified xsi:type="dcterms:W3CDTF">2026-05-21T08:15:48Z</dcterms:modified>
</cp:coreProperties>
</file>